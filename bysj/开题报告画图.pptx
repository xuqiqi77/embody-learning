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8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7F78"/>
    <a:srgbClr val="B8BCC4"/>
    <a:srgbClr val="B0B0B0"/>
    <a:srgbClr val="8AA6BF"/>
    <a:srgbClr val="F4F4F2"/>
    <a:srgbClr val="3A7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2205-B83B-926D-D2D8-37B941940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A6FC5-D6C1-0BE4-A68E-6CE280125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SG"/>
              <a:t>Click to edit Master subtitle style</a:t>
            </a:r>
            <a:endParaRPr lang="zh-SG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CF01C-6BE9-9A70-1866-EC77AEE7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E0750-3062-3807-A2B7-0771E25BB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78EBF-ED8D-8996-A84A-FDBF1D20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850398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EEC7-DF92-F8C8-3B20-97A907BA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16E03-AB11-A7CD-DF93-02BC2CDC9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426EF-21AE-774B-7148-AE7F5721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21D49-BF29-C540-AEFA-A1D66545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C7E87-DF99-47CF-EEC0-B703C045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8038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FC61-1DCA-2268-F593-C063CB902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8B62F-4F8A-7126-3D11-82158B3C2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SG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38838-9BB7-19E2-5DF0-FE4B6DFA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999ED-1673-1019-4BE6-2FB09A59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A5CE4-0509-28B0-886C-F65C3C9C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35060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AC99-A3E2-FDBA-95D9-37C6A880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8AD6E-F790-47BB-6758-674DDE5A2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11F57-4B8E-B9D2-DD0A-E4046E53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F9AB3-0936-40AC-296B-A8F376F4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F7E28-D2A1-2E37-3F34-9D783772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AD213-50A6-F183-DDA4-F3C6EC22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083303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BEBE-943A-2D73-6104-034C22DB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CD1BB-E155-C9F7-B811-558A2E648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SG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53F28-C1FD-D38B-FA2D-A7D24FD6D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8B53E-779A-E875-0029-9076C84F9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SG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DD859-9E0D-B953-2EF4-64E7A567E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EEEF6-E417-1C75-D244-63F4B33E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FCD53-0CF2-2F76-0DE7-0518899C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85B2C-3CD4-6C21-70E0-B1E671AA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68306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6418-6169-BBE8-ABF6-0FC66462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1D6D4-684C-ECCB-BF0C-71792192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451A3-524F-E233-A727-D4AEE1EC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01F7-777F-F597-6403-CC1BD8B3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56290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C45E8-59EF-B8D3-F0A0-98C84487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D68213-E11D-17FB-D023-2563026C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194C7-71F1-017A-20A5-CDF6695C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55024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3EE3-8497-5F7F-0BA3-566071D5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BF388-2E02-9668-5BC3-F5FD8B051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CEC20-5FF3-734C-8F8C-4518D44DB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SG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C7CA3-8179-6013-3420-2BE08F47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31E8D-621A-C831-04B5-DFB511D4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47FB0-6C01-3E91-2EB0-CC69FA61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06671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31D0-2A06-5209-5D9A-821BF4CE3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AA156-016F-C8DD-C673-B4FF092DA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9DFB2-09BB-FBAC-12D7-1A68E4B6F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SG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B1A47-6471-419B-BDDF-7CFF0C09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9F4A5-3F74-DAC3-3AF8-A00164E4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89421-9D5F-E7AD-2D80-7D5B8E30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68397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5F83-98C1-DA3E-C6F1-57C0EF1F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56516-FB64-3E39-9FC7-88CCFEE4D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56DB6-C745-B4C4-F81B-34FF4D31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831B0-25B6-8450-4B4A-02778F7EE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7FB63-CD05-8984-2A8E-D3D04CE5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413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0B5C9-E79C-CA41-6D5F-D712A635F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D673E-CD32-26D3-81E7-FF61B66D6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FAF96-5957-790D-DC3F-B90119F0A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4C3B1-1831-8C5E-2BA2-9E9663E3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5A24-192D-A306-307C-36C9B9CE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91705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ADFC5-5983-B259-7B75-686BD6D0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47079-F8DF-4C7E-E955-6C8BD32EB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038A8-58AA-57B2-452A-A192B1E9C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C77EF-4043-4D94-93F1-6AF3EC61D3FA}" type="datetimeFigureOut">
              <a:rPr lang="zh-SG" altLang="en-US" smtClean="0"/>
              <a:t>12/12/2025</a:t>
            </a:fld>
            <a:endParaRPr lang="zh-SG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48F79-FA68-1504-A5B8-84C606025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F624-C15B-7912-40C1-6BEB900C5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614AB-1465-4709-970A-D552E69BBE7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13997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457C2-3698-F82A-0372-6645F9ED5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82AC1B-21DE-4E12-A989-B8DAA534A75D}"/>
              </a:ext>
            </a:extLst>
          </p:cNvPr>
          <p:cNvSpPr txBox="1"/>
          <p:nvPr/>
        </p:nvSpPr>
        <p:spPr>
          <a:xfrm>
            <a:off x="3048918" y="324708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研究内容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470553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75">
            <a:extLst>
              <a:ext uri="{FF2B5EF4-FFF2-40B4-BE49-F238E27FC236}">
                <a16:creationId xmlns:a16="http://schemas.microsoft.com/office/drawing/2014/main" id="{60CB70DA-76F4-983C-27A1-E24C09634901}"/>
              </a:ext>
            </a:extLst>
          </p:cNvPr>
          <p:cNvSpPr/>
          <p:nvPr/>
        </p:nvSpPr>
        <p:spPr>
          <a:xfrm>
            <a:off x="996734" y="58090"/>
            <a:ext cx="10780001" cy="6729335"/>
          </a:xfrm>
          <a:prstGeom prst="foldedCorner">
            <a:avLst>
              <a:gd name="adj" fmla="val 6453"/>
            </a:avLst>
          </a:prstGeom>
          <a:solidFill>
            <a:srgbClr val="F4F4F2">
              <a:alpha val="29804"/>
            </a:srgb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矩形: 圆角 50">
            <a:extLst>
              <a:ext uri="{FF2B5EF4-FFF2-40B4-BE49-F238E27FC236}">
                <a16:creationId xmlns:a16="http://schemas.microsoft.com/office/drawing/2014/main" id="{0AC46E6A-059E-365E-40CF-7CD971200AFE}"/>
              </a:ext>
            </a:extLst>
          </p:cNvPr>
          <p:cNvSpPr/>
          <p:nvPr/>
        </p:nvSpPr>
        <p:spPr>
          <a:xfrm>
            <a:off x="1177605" y="194397"/>
            <a:ext cx="1613486" cy="938680"/>
          </a:xfrm>
          <a:prstGeom prst="roundRect">
            <a:avLst/>
          </a:prstGeom>
          <a:gradFill flip="none" rotWithShape="1">
            <a:gsLst>
              <a:gs pos="0">
                <a:srgbClr val="8AA6BF">
                  <a:tint val="66000"/>
                  <a:satMod val="160000"/>
                </a:srgbClr>
              </a:gs>
              <a:gs pos="50000">
                <a:srgbClr val="8AA6BF">
                  <a:tint val="44500"/>
                  <a:satMod val="160000"/>
                </a:srgbClr>
              </a:gs>
              <a:gs pos="100000">
                <a:srgbClr val="8AA6BF">
                  <a:tint val="23500"/>
                  <a:satMod val="160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研究对象</a:t>
            </a:r>
          </a:p>
        </p:txBody>
      </p:sp>
      <p:sp>
        <p:nvSpPr>
          <p:cNvPr id="9" name="矩形: 圆角 50">
            <a:extLst>
              <a:ext uri="{FF2B5EF4-FFF2-40B4-BE49-F238E27FC236}">
                <a16:creationId xmlns:a16="http://schemas.microsoft.com/office/drawing/2014/main" id="{64BF6E8C-4F0E-0638-6348-A6A4D623947F}"/>
              </a:ext>
            </a:extLst>
          </p:cNvPr>
          <p:cNvSpPr/>
          <p:nvPr/>
        </p:nvSpPr>
        <p:spPr>
          <a:xfrm>
            <a:off x="1177605" y="1492551"/>
            <a:ext cx="1613486" cy="938680"/>
          </a:xfrm>
          <a:prstGeom prst="roundRect">
            <a:avLst/>
          </a:prstGeom>
          <a:gradFill flip="none" rotWithShape="1">
            <a:gsLst>
              <a:gs pos="0">
                <a:srgbClr val="8AA6BF">
                  <a:tint val="66000"/>
                  <a:satMod val="160000"/>
                </a:srgbClr>
              </a:gs>
              <a:gs pos="50000">
                <a:srgbClr val="8AA6BF">
                  <a:tint val="44500"/>
                  <a:satMod val="160000"/>
                </a:srgbClr>
              </a:gs>
              <a:gs pos="100000">
                <a:srgbClr val="8AA6BF">
                  <a:tint val="23500"/>
                  <a:satMod val="160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研究基础</a:t>
            </a: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及现状</a:t>
            </a:r>
          </a:p>
        </p:txBody>
      </p:sp>
      <p:sp>
        <p:nvSpPr>
          <p:cNvPr id="12" name="矩形: 圆角 50">
            <a:extLst>
              <a:ext uri="{FF2B5EF4-FFF2-40B4-BE49-F238E27FC236}">
                <a16:creationId xmlns:a16="http://schemas.microsoft.com/office/drawing/2014/main" id="{F29D5F6E-67CF-77CC-BCA7-7C0889C37471}"/>
              </a:ext>
            </a:extLst>
          </p:cNvPr>
          <p:cNvSpPr/>
          <p:nvPr/>
        </p:nvSpPr>
        <p:spPr>
          <a:xfrm>
            <a:off x="1177605" y="2790705"/>
            <a:ext cx="1613486" cy="938680"/>
          </a:xfrm>
          <a:prstGeom prst="roundRect">
            <a:avLst/>
          </a:prstGeom>
          <a:gradFill flip="none" rotWithShape="1">
            <a:gsLst>
              <a:gs pos="0">
                <a:srgbClr val="8AA6BF">
                  <a:tint val="66000"/>
                  <a:satMod val="160000"/>
                </a:srgbClr>
              </a:gs>
              <a:gs pos="50000">
                <a:srgbClr val="8AA6BF">
                  <a:tint val="44500"/>
                  <a:satMod val="160000"/>
                </a:srgbClr>
              </a:gs>
              <a:gs pos="100000">
                <a:srgbClr val="8AA6BF">
                  <a:tint val="23500"/>
                  <a:satMod val="160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创新点</a:t>
            </a:r>
          </a:p>
        </p:txBody>
      </p:sp>
      <p:sp>
        <p:nvSpPr>
          <p:cNvPr id="13" name="矩形: 圆角 50">
            <a:extLst>
              <a:ext uri="{FF2B5EF4-FFF2-40B4-BE49-F238E27FC236}">
                <a16:creationId xmlns:a16="http://schemas.microsoft.com/office/drawing/2014/main" id="{97D049D7-C7F5-5A8C-4D4D-3822CD7644C9}"/>
              </a:ext>
            </a:extLst>
          </p:cNvPr>
          <p:cNvSpPr/>
          <p:nvPr/>
        </p:nvSpPr>
        <p:spPr>
          <a:xfrm>
            <a:off x="1177605" y="4088859"/>
            <a:ext cx="1613486" cy="938680"/>
          </a:xfrm>
          <a:prstGeom prst="roundRect">
            <a:avLst/>
          </a:prstGeom>
          <a:gradFill flip="none" rotWithShape="1">
            <a:gsLst>
              <a:gs pos="0">
                <a:srgbClr val="8AA6BF">
                  <a:tint val="66000"/>
                  <a:satMod val="160000"/>
                </a:srgbClr>
              </a:gs>
              <a:gs pos="50000">
                <a:srgbClr val="8AA6BF">
                  <a:tint val="44500"/>
                  <a:satMod val="160000"/>
                </a:srgbClr>
              </a:gs>
              <a:gs pos="100000">
                <a:srgbClr val="8AA6BF">
                  <a:tint val="23500"/>
                  <a:satMod val="160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研究挑战</a:t>
            </a:r>
          </a:p>
        </p:txBody>
      </p:sp>
      <p:sp>
        <p:nvSpPr>
          <p:cNvPr id="14" name="矩形: 圆角 50">
            <a:extLst>
              <a:ext uri="{FF2B5EF4-FFF2-40B4-BE49-F238E27FC236}">
                <a16:creationId xmlns:a16="http://schemas.microsoft.com/office/drawing/2014/main" id="{8CC7A180-AFA7-2C29-9409-9DB932B06914}"/>
              </a:ext>
            </a:extLst>
          </p:cNvPr>
          <p:cNvSpPr/>
          <p:nvPr/>
        </p:nvSpPr>
        <p:spPr>
          <a:xfrm>
            <a:off x="1177605" y="5748667"/>
            <a:ext cx="1613486" cy="938680"/>
          </a:xfrm>
          <a:prstGeom prst="roundRect">
            <a:avLst/>
          </a:prstGeom>
          <a:gradFill flip="none" rotWithShape="1">
            <a:gsLst>
              <a:gs pos="0">
                <a:srgbClr val="8AA6BF">
                  <a:tint val="66000"/>
                  <a:satMod val="160000"/>
                </a:srgbClr>
              </a:gs>
              <a:gs pos="50000">
                <a:srgbClr val="8AA6BF">
                  <a:tint val="44500"/>
                  <a:satMod val="160000"/>
                </a:srgbClr>
              </a:gs>
              <a:gs pos="100000">
                <a:srgbClr val="8AA6BF">
                  <a:tint val="23500"/>
                  <a:satMod val="160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研究目标</a:t>
            </a:r>
          </a:p>
        </p:txBody>
      </p:sp>
      <p:sp>
        <p:nvSpPr>
          <p:cNvPr id="15" name="矩形: 圆角 50">
            <a:extLst>
              <a:ext uri="{FF2B5EF4-FFF2-40B4-BE49-F238E27FC236}">
                <a16:creationId xmlns:a16="http://schemas.microsoft.com/office/drawing/2014/main" id="{296A0F48-F874-3A28-FC64-5D7F6554B925}"/>
              </a:ext>
            </a:extLst>
          </p:cNvPr>
          <p:cNvSpPr/>
          <p:nvPr/>
        </p:nvSpPr>
        <p:spPr>
          <a:xfrm>
            <a:off x="3490510" y="194397"/>
            <a:ext cx="7523885" cy="787284"/>
          </a:xfrm>
          <a:prstGeom prst="roundRect">
            <a:avLst/>
          </a:prstGeom>
          <a:solidFill>
            <a:schemeClr val="accent1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507F78"/>
                </a:solidFill>
              </a:rPr>
              <a:t>人形具身智能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507F78"/>
                </a:solidFill>
              </a:rPr>
              <a:t>实时长程任务</a:t>
            </a:r>
            <a:r>
              <a:rPr lang="zh-CN" altLang="en-US" sz="2800" dirty="0"/>
              <a:t>执行优化</a:t>
            </a:r>
            <a:endParaRPr lang="zh-CN" altLang="en-US" sz="28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: 圆角 50">
            <a:extLst>
              <a:ext uri="{FF2B5EF4-FFF2-40B4-BE49-F238E27FC236}">
                <a16:creationId xmlns:a16="http://schemas.microsoft.com/office/drawing/2014/main" id="{9664C4EF-5A23-168E-4532-40D28D6B6686}"/>
              </a:ext>
            </a:extLst>
          </p:cNvPr>
          <p:cNvSpPr/>
          <p:nvPr/>
        </p:nvSpPr>
        <p:spPr>
          <a:xfrm>
            <a:off x="6252408" y="1016980"/>
            <a:ext cx="1995889" cy="938680"/>
          </a:xfrm>
          <a:prstGeom prst="roundRect">
            <a:avLst/>
          </a:prstGeom>
          <a:solidFill>
            <a:schemeClr val="accent6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dirty="0"/>
              <a:t>具身智能抓取任务研究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: 圆角 50">
            <a:extLst>
              <a:ext uri="{FF2B5EF4-FFF2-40B4-BE49-F238E27FC236}">
                <a16:creationId xmlns:a16="http://schemas.microsoft.com/office/drawing/2014/main" id="{D686B971-CC1B-42A7-429E-BCDFE9868535}"/>
              </a:ext>
            </a:extLst>
          </p:cNvPr>
          <p:cNvSpPr/>
          <p:nvPr/>
        </p:nvSpPr>
        <p:spPr>
          <a:xfrm>
            <a:off x="9018506" y="1492551"/>
            <a:ext cx="1995889" cy="938680"/>
          </a:xfrm>
          <a:prstGeom prst="roundRect">
            <a:avLst/>
          </a:prstGeom>
          <a:solidFill>
            <a:schemeClr val="accent6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dirty="0"/>
              <a:t>大模型与具身智能结合的研究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: 圆角 50">
            <a:extLst>
              <a:ext uri="{FF2B5EF4-FFF2-40B4-BE49-F238E27FC236}">
                <a16:creationId xmlns:a16="http://schemas.microsoft.com/office/drawing/2014/main" id="{6843901D-E4DD-1751-5A49-C08C7A62C92F}"/>
              </a:ext>
            </a:extLst>
          </p:cNvPr>
          <p:cNvSpPr/>
          <p:nvPr/>
        </p:nvSpPr>
        <p:spPr>
          <a:xfrm>
            <a:off x="3490510" y="4103344"/>
            <a:ext cx="1995889" cy="938680"/>
          </a:xfrm>
          <a:prstGeom prst="roundRect">
            <a:avLst/>
          </a:prstGeom>
          <a:solidFill>
            <a:schemeClr val="accent2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507F78"/>
                </a:solidFill>
              </a:rPr>
              <a:t>复杂形状</a:t>
            </a:r>
            <a:r>
              <a:rPr lang="zh-CN" altLang="en-US" dirty="0"/>
              <a:t>物体抓取的泛化难度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: 圆角 50">
            <a:extLst>
              <a:ext uri="{FF2B5EF4-FFF2-40B4-BE49-F238E27FC236}">
                <a16:creationId xmlns:a16="http://schemas.microsoft.com/office/drawing/2014/main" id="{0804815C-E283-58A4-140A-C57EFBF30FD9}"/>
              </a:ext>
            </a:extLst>
          </p:cNvPr>
          <p:cNvSpPr/>
          <p:nvPr/>
        </p:nvSpPr>
        <p:spPr>
          <a:xfrm>
            <a:off x="3490510" y="2803980"/>
            <a:ext cx="2308710" cy="938680"/>
          </a:xfrm>
          <a:prstGeom prst="roundRect">
            <a:avLst/>
          </a:prstGeom>
          <a:solidFill>
            <a:schemeClr val="accent4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dirty="0"/>
              <a:t>模型辅助</a:t>
            </a:r>
            <a:r>
              <a:rPr lang="zh-CN" altLang="en-US" b="1" dirty="0">
                <a:solidFill>
                  <a:srgbClr val="507F78"/>
                </a:solidFill>
              </a:rPr>
              <a:t>人形</a:t>
            </a:r>
            <a:r>
              <a:rPr lang="zh-CN" altLang="en-US" dirty="0"/>
              <a:t>机器人细粒度动作抉择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: 圆角 50">
            <a:extLst>
              <a:ext uri="{FF2B5EF4-FFF2-40B4-BE49-F238E27FC236}">
                <a16:creationId xmlns:a16="http://schemas.microsoft.com/office/drawing/2014/main" id="{BD77B8B8-381D-E3C8-5957-60BD0F062A93}"/>
              </a:ext>
            </a:extLst>
          </p:cNvPr>
          <p:cNvSpPr/>
          <p:nvPr/>
        </p:nvSpPr>
        <p:spPr>
          <a:xfrm>
            <a:off x="8701489" y="2803980"/>
            <a:ext cx="2308710" cy="938680"/>
          </a:xfrm>
          <a:prstGeom prst="roundRect">
            <a:avLst/>
          </a:prstGeom>
          <a:solidFill>
            <a:schemeClr val="accent4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dirty="0"/>
              <a:t>模型驱动任务</a:t>
            </a:r>
            <a:r>
              <a:rPr lang="zh-CN" altLang="en-US" b="1" dirty="0">
                <a:solidFill>
                  <a:srgbClr val="507F78"/>
                </a:solidFill>
              </a:rPr>
              <a:t>统筹</a:t>
            </a:r>
            <a:r>
              <a:rPr lang="zh-CN" altLang="en-US" dirty="0"/>
              <a:t>与主动</a:t>
            </a:r>
            <a:r>
              <a:rPr lang="zh-CN" altLang="en-US" b="1" dirty="0">
                <a:solidFill>
                  <a:srgbClr val="507F78"/>
                </a:solidFill>
              </a:rPr>
              <a:t>求助</a:t>
            </a:r>
            <a:r>
              <a:rPr lang="zh-CN" altLang="en-US" dirty="0"/>
              <a:t>机制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矩形: 圆角 50">
            <a:extLst>
              <a:ext uri="{FF2B5EF4-FFF2-40B4-BE49-F238E27FC236}">
                <a16:creationId xmlns:a16="http://schemas.microsoft.com/office/drawing/2014/main" id="{BE20DDFA-2C36-DEDD-8531-EEC7D5360073}"/>
              </a:ext>
            </a:extLst>
          </p:cNvPr>
          <p:cNvSpPr/>
          <p:nvPr/>
        </p:nvSpPr>
        <p:spPr>
          <a:xfrm>
            <a:off x="3207163" y="5748667"/>
            <a:ext cx="8086381" cy="938680"/>
          </a:xfrm>
          <a:prstGeom prst="roundRect">
            <a:avLst/>
          </a:prstGeom>
          <a:gradFill flip="none" rotWithShape="1">
            <a:gsLst>
              <a:gs pos="0">
                <a:srgbClr val="507F78">
                  <a:tint val="66000"/>
                  <a:satMod val="160000"/>
                </a:srgbClr>
              </a:gs>
              <a:gs pos="50000">
                <a:srgbClr val="507F78">
                  <a:tint val="44500"/>
                  <a:satMod val="160000"/>
                </a:srgbClr>
              </a:gs>
              <a:gs pos="100000">
                <a:srgbClr val="507F78">
                  <a:tint val="23500"/>
                  <a:satMod val="160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400" dirty="0"/>
              <a:t>构建</a:t>
            </a:r>
            <a:r>
              <a:rPr lang="zh-CN" altLang="en-US" sz="2400" b="1" dirty="0">
                <a:solidFill>
                  <a:srgbClr val="507F78"/>
                </a:solidFill>
              </a:rPr>
              <a:t>多模态大模型</a:t>
            </a:r>
            <a:r>
              <a:rPr lang="zh-CN" altLang="en-US" sz="2400" dirty="0"/>
              <a:t>辅助的</a:t>
            </a:r>
            <a:r>
              <a:rPr lang="zh-CN" altLang="en-US" sz="2400" b="1" dirty="0">
                <a:solidFill>
                  <a:srgbClr val="507F78"/>
                </a:solidFill>
              </a:rPr>
              <a:t>人形具身智能</a:t>
            </a:r>
            <a:r>
              <a:rPr lang="zh-CN" altLang="en-US" sz="2400" dirty="0"/>
              <a:t>长程任务执行系统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矩形: 圆角 50">
            <a:extLst>
              <a:ext uri="{FF2B5EF4-FFF2-40B4-BE49-F238E27FC236}">
                <a16:creationId xmlns:a16="http://schemas.microsoft.com/office/drawing/2014/main" id="{657429BC-B581-04F6-14C3-6350C4D566B8}"/>
              </a:ext>
            </a:extLst>
          </p:cNvPr>
          <p:cNvSpPr/>
          <p:nvPr/>
        </p:nvSpPr>
        <p:spPr>
          <a:xfrm>
            <a:off x="6095999" y="4103344"/>
            <a:ext cx="2308710" cy="938680"/>
          </a:xfrm>
          <a:prstGeom prst="roundRect">
            <a:avLst/>
          </a:prstGeom>
          <a:solidFill>
            <a:schemeClr val="accent2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400" dirty="0"/>
              <a:t>多层次控制中模型输出的</a:t>
            </a:r>
            <a:r>
              <a:rPr lang="zh-CN" altLang="en-US" sz="1400" b="1" dirty="0">
                <a:solidFill>
                  <a:srgbClr val="507F78"/>
                </a:solidFill>
              </a:rPr>
              <a:t>可执行性 </a:t>
            </a:r>
            <a:r>
              <a:rPr lang="en-US" altLang="zh-CN" sz="1400" b="1" dirty="0">
                <a:solidFill>
                  <a:srgbClr val="507F78"/>
                </a:solidFill>
              </a:rPr>
              <a:t>            </a:t>
            </a:r>
            <a:r>
              <a:rPr lang="zh-CN" altLang="en-US" sz="1400" b="1" dirty="0">
                <a:solidFill>
                  <a:srgbClr val="507F78"/>
                </a:solidFill>
              </a:rPr>
              <a:t>通用模型</a:t>
            </a:r>
            <a:r>
              <a:rPr lang="zh-CN" altLang="en-US" sz="1400" dirty="0"/>
              <a:t>处理指定具身任务的能力</a:t>
            </a:r>
            <a:endParaRPr lang="en-US" altLang="zh-CN" sz="1400" dirty="0"/>
          </a:p>
        </p:txBody>
      </p:sp>
      <p:sp>
        <p:nvSpPr>
          <p:cNvPr id="24" name="矩形: 圆角 50">
            <a:extLst>
              <a:ext uri="{FF2B5EF4-FFF2-40B4-BE49-F238E27FC236}">
                <a16:creationId xmlns:a16="http://schemas.microsoft.com/office/drawing/2014/main" id="{B1F3247B-2529-018C-B050-592B19629ADF}"/>
              </a:ext>
            </a:extLst>
          </p:cNvPr>
          <p:cNvSpPr/>
          <p:nvPr/>
        </p:nvSpPr>
        <p:spPr>
          <a:xfrm>
            <a:off x="9014309" y="4103344"/>
            <a:ext cx="1995889" cy="938680"/>
          </a:xfrm>
          <a:prstGeom prst="roundRect">
            <a:avLst/>
          </a:prstGeom>
          <a:solidFill>
            <a:schemeClr val="accent2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dirty="0"/>
              <a:t>长程任务的分解与</a:t>
            </a:r>
            <a:r>
              <a:rPr lang="zh-CN" altLang="en-US" b="1" dirty="0">
                <a:solidFill>
                  <a:srgbClr val="507F78"/>
                </a:solidFill>
              </a:rPr>
              <a:t>上下文</a:t>
            </a:r>
            <a:r>
              <a:rPr lang="zh-CN" altLang="en-US" dirty="0"/>
              <a:t>管理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箭头: 下 1">
            <a:extLst>
              <a:ext uri="{FF2B5EF4-FFF2-40B4-BE49-F238E27FC236}">
                <a16:creationId xmlns:a16="http://schemas.microsoft.com/office/drawing/2014/main" id="{02A00398-D46F-C9EC-4EDB-2E589E6C5FC3}"/>
              </a:ext>
            </a:extLst>
          </p:cNvPr>
          <p:cNvSpPr>
            <a:spLocks noChangeAspect="1"/>
          </p:cNvSpPr>
          <p:nvPr/>
        </p:nvSpPr>
        <p:spPr>
          <a:xfrm rot="2205321">
            <a:off x="5586291" y="950745"/>
            <a:ext cx="463519" cy="922986"/>
          </a:xfrm>
          <a:prstGeom prst="downArrow">
            <a:avLst>
              <a:gd name="adj1" fmla="val 50000"/>
              <a:gd name="adj2" fmla="val 59715"/>
            </a:avLst>
          </a:prstGeom>
          <a:gradFill flip="none" rotWithShape="1">
            <a:gsLst>
              <a:gs pos="0">
                <a:srgbClr val="B8BCC4">
                  <a:shade val="30000"/>
                  <a:satMod val="115000"/>
                </a:srgbClr>
              </a:gs>
              <a:gs pos="50000">
                <a:srgbClr val="B8BCC4">
                  <a:shade val="67500"/>
                  <a:satMod val="115000"/>
                </a:srgbClr>
              </a:gs>
              <a:gs pos="100000">
                <a:srgbClr val="B8BCC4">
                  <a:shade val="100000"/>
                  <a:satMod val="115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箭头: 下 1">
            <a:extLst>
              <a:ext uri="{FF2B5EF4-FFF2-40B4-BE49-F238E27FC236}">
                <a16:creationId xmlns:a16="http://schemas.microsoft.com/office/drawing/2014/main" id="{78804CBB-0F27-B902-B3BC-E5A3DC5A44D6}"/>
              </a:ext>
            </a:extLst>
          </p:cNvPr>
          <p:cNvSpPr>
            <a:spLocks noChangeAspect="1"/>
          </p:cNvSpPr>
          <p:nvPr/>
        </p:nvSpPr>
        <p:spPr>
          <a:xfrm rot="19310950">
            <a:off x="8458108" y="938050"/>
            <a:ext cx="463519" cy="922986"/>
          </a:xfrm>
          <a:prstGeom prst="downArrow">
            <a:avLst>
              <a:gd name="adj1" fmla="val 50000"/>
              <a:gd name="adj2" fmla="val 59715"/>
            </a:avLst>
          </a:prstGeom>
          <a:gradFill flip="none" rotWithShape="1">
            <a:gsLst>
              <a:gs pos="0">
                <a:srgbClr val="B8BCC4">
                  <a:shade val="30000"/>
                  <a:satMod val="115000"/>
                </a:srgbClr>
              </a:gs>
              <a:gs pos="50000">
                <a:srgbClr val="B8BCC4">
                  <a:shade val="67500"/>
                  <a:satMod val="115000"/>
                </a:srgbClr>
              </a:gs>
              <a:gs pos="100000">
                <a:srgbClr val="B8BCC4">
                  <a:shade val="100000"/>
                  <a:satMod val="115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E0A8A8A-0DF5-65BE-ADCA-C0337A0911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5991" y="2567965"/>
            <a:ext cx="992002" cy="992002"/>
          </a:xfrm>
          <a:prstGeom prst="rect">
            <a:avLst/>
          </a:prstGeom>
        </p:spPr>
      </p:pic>
      <p:sp>
        <p:nvSpPr>
          <p:cNvPr id="8" name="任意多边形: 形状 1">
            <a:extLst>
              <a:ext uri="{FF2B5EF4-FFF2-40B4-BE49-F238E27FC236}">
                <a16:creationId xmlns:a16="http://schemas.microsoft.com/office/drawing/2014/main" id="{39B7995A-875E-B447-947D-2C7FDBCE5784}"/>
              </a:ext>
            </a:extLst>
          </p:cNvPr>
          <p:cNvSpPr/>
          <p:nvPr/>
        </p:nvSpPr>
        <p:spPr>
          <a:xfrm>
            <a:off x="6205822" y="2128420"/>
            <a:ext cx="1995889" cy="1771396"/>
          </a:xfrm>
          <a:custGeom>
            <a:avLst/>
            <a:gdLst>
              <a:gd name="connsiteX0" fmla="*/ 653147 w 704231"/>
              <a:gd name="connsiteY0" fmla="*/ 196317 h 688354"/>
              <a:gd name="connsiteX1" fmla="*/ 684156 w 704231"/>
              <a:gd name="connsiteY1" fmla="*/ 210231 h 688354"/>
              <a:gd name="connsiteX2" fmla="*/ 704230 w 704231"/>
              <a:gd name="connsiteY2" fmla="*/ 323229 h 688354"/>
              <a:gd name="connsiteX3" fmla="*/ 493511 w 704231"/>
              <a:gd name="connsiteY3" fmla="*/ 627277 h 688354"/>
              <a:gd name="connsiteX4" fmla="*/ 521918 w 704231"/>
              <a:gd name="connsiteY4" fmla="*/ 643475 h 688354"/>
              <a:gd name="connsiteX5" fmla="*/ 533155 w 704231"/>
              <a:gd name="connsiteY5" fmla="*/ 658013 h 688354"/>
              <a:gd name="connsiteX6" fmla="*/ 530705 w 704231"/>
              <a:gd name="connsiteY6" fmla="*/ 676418 h 688354"/>
              <a:gd name="connsiteX7" fmla="*/ 498056 w 704231"/>
              <a:gd name="connsiteY7" fmla="*/ 685052 h 688354"/>
              <a:gd name="connsiteX8" fmla="*/ 419399 w 704231"/>
              <a:gd name="connsiteY8" fmla="*/ 640031 h 688354"/>
              <a:gd name="connsiteX9" fmla="*/ 410561 w 704231"/>
              <a:gd name="connsiteY9" fmla="*/ 607382 h 688354"/>
              <a:gd name="connsiteX10" fmla="*/ 455382 w 704231"/>
              <a:gd name="connsiteY10" fmla="*/ 528436 h 688354"/>
              <a:gd name="connsiteX11" fmla="*/ 488082 w 704231"/>
              <a:gd name="connsiteY11" fmla="*/ 519636 h 688354"/>
              <a:gd name="connsiteX12" fmla="*/ 499319 w 704231"/>
              <a:gd name="connsiteY12" fmla="*/ 534175 h 688354"/>
              <a:gd name="connsiteX13" fmla="*/ 496920 w 704231"/>
              <a:gd name="connsiteY13" fmla="*/ 552413 h 688354"/>
              <a:gd name="connsiteX14" fmla="*/ 481012 w 704231"/>
              <a:gd name="connsiteY14" fmla="*/ 580344 h 688354"/>
              <a:gd name="connsiteX15" fmla="*/ 632518 w 704231"/>
              <a:gd name="connsiteY15" fmla="*/ 437247 h 688354"/>
              <a:gd name="connsiteX16" fmla="*/ 639966 w 704231"/>
              <a:gd name="connsiteY16" fmla="*/ 227066 h 688354"/>
              <a:gd name="connsiteX17" fmla="*/ 639966 w 704231"/>
              <a:gd name="connsiteY17" fmla="*/ 208828 h 688354"/>
              <a:gd name="connsiteX18" fmla="*/ 653147 w 704231"/>
              <a:gd name="connsiteY18" fmla="*/ 196317 h 688354"/>
              <a:gd name="connsiteX19" fmla="*/ 109948 w 704231"/>
              <a:gd name="connsiteY19" fmla="*/ 195309 h 688354"/>
              <a:gd name="connsiteX20" fmla="*/ 124341 w 704231"/>
              <a:gd name="connsiteY20" fmla="*/ 206405 h 688354"/>
              <a:gd name="connsiteX21" fmla="*/ 169793 w 704231"/>
              <a:gd name="connsiteY21" fmla="*/ 285095 h 688354"/>
              <a:gd name="connsiteX22" fmla="*/ 169818 w 704231"/>
              <a:gd name="connsiteY22" fmla="*/ 285133 h 688354"/>
              <a:gd name="connsiteX23" fmla="*/ 161081 w 704231"/>
              <a:gd name="connsiteY23" fmla="*/ 317872 h 688354"/>
              <a:gd name="connsiteX24" fmla="*/ 128381 w 704231"/>
              <a:gd name="connsiteY24" fmla="*/ 309072 h 688354"/>
              <a:gd name="connsiteX25" fmla="*/ 111589 w 704231"/>
              <a:gd name="connsiteY25" fmla="*/ 279866 h 688354"/>
              <a:gd name="connsiteX26" fmla="*/ 111387 w 704231"/>
              <a:gd name="connsiteY26" fmla="*/ 281078 h 688354"/>
              <a:gd name="connsiteX27" fmla="*/ 331525 w 704231"/>
              <a:gd name="connsiteY27" fmla="*/ 595010 h 688354"/>
              <a:gd name="connsiteX28" fmla="*/ 336576 w 704231"/>
              <a:gd name="connsiteY28" fmla="*/ 595010 h 688354"/>
              <a:gd name="connsiteX29" fmla="*/ 353620 w 704231"/>
              <a:gd name="connsiteY29" fmla="*/ 603683 h 688354"/>
              <a:gd name="connsiteX30" fmla="*/ 359302 w 704231"/>
              <a:gd name="connsiteY30" fmla="*/ 621156 h 688354"/>
              <a:gd name="connsiteX31" fmla="*/ 335439 w 704231"/>
              <a:gd name="connsiteY31" fmla="*/ 643219 h 688354"/>
              <a:gd name="connsiteX32" fmla="*/ 330010 w 704231"/>
              <a:gd name="connsiteY32" fmla="*/ 643219 h 688354"/>
              <a:gd name="connsiteX33" fmla="*/ 60330 w 704231"/>
              <a:gd name="connsiteY33" fmla="*/ 324377 h 688354"/>
              <a:gd name="connsiteX34" fmla="*/ 64748 w 704231"/>
              <a:gd name="connsiteY34" fmla="*/ 269025 h 688354"/>
              <a:gd name="connsiteX35" fmla="*/ 36720 w 704231"/>
              <a:gd name="connsiteY35" fmla="*/ 285223 h 688354"/>
              <a:gd name="connsiteX36" fmla="*/ 35079 w 704231"/>
              <a:gd name="connsiteY36" fmla="*/ 286116 h 688354"/>
              <a:gd name="connsiteX37" fmla="*/ 34839 w 704231"/>
              <a:gd name="connsiteY37" fmla="*/ 286243 h 688354"/>
              <a:gd name="connsiteX38" fmla="*/ 2758 w 704231"/>
              <a:gd name="connsiteY38" fmla="*/ 275658 h 688354"/>
              <a:gd name="connsiteX39" fmla="*/ 1116 w 704231"/>
              <a:gd name="connsiteY39" fmla="*/ 257420 h 688354"/>
              <a:gd name="connsiteX40" fmla="*/ 12858 w 704231"/>
              <a:gd name="connsiteY40" fmla="*/ 243263 h 688354"/>
              <a:gd name="connsiteX41" fmla="*/ 91767 w 704231"/>
              <a:gd name="connsiteY41" fmla="*/ 197605 h 688354"/>
              <a:gd name="connsiteX42" fmla="*/ 109948 w 704231"/>
              <a:gd name="connsiteY42" fmla="*/ 195309 h 688354"/>
              <a:gd name="connsiteX43" fmla="*/ 354001 w 704231"/>
              <a:gd name="connsiteY43" fmla="*/ 1260 h 688354"/>
              <a:gd name="connsiteX44" fmla="*/ 587319 w 704231"/>
              <a:gd name="connsiteY44" fmla="*/ 73640 h 688354"/>
              <a:gd name="connsiteX45" fmla="*/ 587319 w 704231"/>
              <a:gd name="connsiteY45" fmla="*/ 40097 h 688354"/>
              <a:gd name="connsiteX46" fmla="*/ 611181 w 704231"/>
              <a:gd name="connsiteY46" fmla="*/ 15993 h 688354"/>
              <a:gd name="connsiteX47" fmla="*/ 635043 w 704231"/>
              <a:gd name="connsiteY47" fmla="*/ 40097 h 688354"/>
              <a:gd name="connsiteX48" fmla="*/ 635043 w 704231"/>
              <a:gd name="connsiteY48" fmla="*/ 130648 h 688354"/>
              <a:gd name="connsiteX49" fmla="*/ 627720 w 704231"/>
              <a:gd name="connsiteY49" fmla="*/ 147865 h 688354"/>
              <a:gd name="connsiteX50" fmla="*/ 623807 w 704231"/>
              <a:gd name="connsiteY50" fmla="*/ 150672 h 688354"/>
              <a:gd name="connsiteX51" fmla="*/ 611181 w 704231"/>
              <a:gd name="connsiteY51" fmla="*/ 154625 h 688354"/>
              <a:gd name="connsiteX52" fmla="*/ 520908 w 704231"/>
              <a:gd name="connsiteY52" fmla="*/ 154625 h 688354"/>
              <a:gd name="connsiteX53" fmla="*/ 517449 w 704231"/>
              <a:gd name="connsiteY53" fmla="*/ 154625 h 688354"/>
              <a:gd name="connsiteX54" fmla="*/ 495506 w 704231"/>
              <a:gd name="connsiteY54" fmla="*/ 128965 h 688354"/>
              <a:gd name="connsiteX55" fmla="*/ 520908 w 704231"/>
              <a:gd name="connsiteY55" fmla="*/ 106799 h 688354"/>
              <a:gd name="connsiteX56" fmla="*/ 551841 w 704231"/>
              <a:gd name="connsiteY56" fmla="*/ 106544 h 688354"/>
              <a:gd name="connsiteX57" fmla="*/ 171687 w 704231"/>
              <a:gd name="connsiteY57" fmla="*/ 146081 h 688354"/>
              <a:gd name="connsiteX58" fmla="*/ 138103 w 704231"/>
              <a:gd name="connsiteY58" fmla="*/ 149014 h 688354"/>
              <a:gd name="connsiteX59" fmla="*/ 129644 w 704231"/>
              <a:gd name="connsiteY59" fmla="*/ 132689 h 688354"/>
              <a:gd name="connsiteX60" fmla="*/ 135200 w 704231"/>
              <a:gd name="connsiteY60" fmla="*/ 115216 h 688354"/>
              <a:gd name="connsiteX61" fmla="*/ 136715 w 704231"/>
              <a:gd name="connsiteY61" fmla="*/ 113558 h 688354"/>
              <a:gd name="connsiteX62" fmla="*/ 354001 w 704231"/>
              <a:gd name="connsiteY62" fmla="*/ 1260 h 688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704231" h="688354">
                <a:moveTo>
                  <a:pt x="653147" y="196317"/>
                </a:moveTo>
                <a:cubicBezTo>
                  <a:pt x="665521" y="191508"/>
                  <a:pt x="679396" y="197745"/>
                  <a:pt x="684156" y="210231"/>
                </a:cubicBezTo>
                <a:cubicBezTo>
                  <a:pt x="697539" y="246362"/>
                  <a:pt x="704331" y="284649"/>
                  <a:pt x="704230" y="323229"/>
                </a:cubicBezTo>
                <a:cubicBezTo>
                  <a:pt x="704571" y="459349"/>
                  <a:pt x="620246" y="581019"/>
                  <a:pt x="493511" y="627277"/>
                </a:cubicBezTo>
                <a:lnTo>
                  <a:pt x="521918" y="643475"/>
                </a:lnTo>
                <a:cubicBezTo>
                  <a:pt x="527461" y="646586"/>
                  <a:pt x="531514" y="651828"/>
                  <a:pt x="533155" y="658013"/>
                </a:cubicBezTo>
                <a:cubicBezTo>
                  <a:pt x="534796" y="664238"/>
                  <a:pt x="533913" y="670857"/>
                  <a:pt x="530705" y="676418"/>
                </a:cubicBezTo>
                <a:cubicBezTo>
                  <a:pt x="524052" y="687909"/>
                  <a:pt x="509431" y="691773"/>
                  <a:pt x="498056" y="685052"/>
                </a:cubicBezTo>
                <a:lnTo>
                  <a:pt x="419399" y="640031"/>
                </a:lnTo>
                <a:cubicBezTo>
                  <a:pt x="408049" y="633463"/>
                  <a:pt x="404097" y="618860"/>
                  <a:pt x="410561" y="607382"/>
                </a:cubicBezTo>
                <a:lnTo>
                  <a:pt x="455382" y="528436"/>
                </a:lnTo>
                <a:cubicBezTo>
                  <a:pt x="462073" y="516971"/>
                  <a:pt x="476631" y="513055"/>
                  <a:pt x="488082" y="519636"/>
                </a:cubicBezTo>
                <a:cubicBezTo>
                  <a:pt x="493624" y="522748"/>
                  <a:pt x="497677" y="527990"/>
                  <a:pt x="499319" y="534175"/>
                </a:cubicBezTo>
                <a:cubicBezTo>
                  <a:pt x="500947" y="540335"/>
                  <a:pt x="500089" y="546903"/>
                  <a:pt x="496920" y="552413"/>
                </a:cubicBezTo>
                <a:lnTo>
                  <a:pt x="481012" y="580344"/>
                </a:lnTo>
                <a:cubicBezTo>
                  <a:pt x="548243" y="554721"/>
                  <a:pt x="602696" y="503286"/>
                  <a:pt x="632518" y="437247"/>
                </a:cubicBezTo>
                <a:cubicBezTo>
                  <a:pt x="662794" y="371030"/>
                  <a:pt x="665483" y="295298"/>
                  <a:pt x="639966" y="227066"/>
                </a:cubicBezTo>
                <a:cubicBezTo>
                  <a:pt x="637555" y="221225"/>
                  <a:pt x="637555" y="214670"/>
                  <a:pt x="639966" y="208828"/>
                </a:cubicBezTo>
                <a:cubicBezTo>
                  <a:pt x="642580" y="203077"/>
                  <a:pt x="647315" y="198587"/>
                  <a:pt x="653147" y="196317"/>
                </a:cubicBezTo>
                <a:close/>
                <a:moveTo>
                  <a:pt x="109948" y="195309"/>
                </a:moveTo>
                <a:cubicBezTo>
                  <a:pt x="116021" y="196916"/>
                  <a:pt x="121210" y="200908"/>
                  <a:pt x="124341" y="206405"/>
                </a:cubicBezTo>
                <a:lnTo>
                  <a:pt x="169793" y="285095"/>
                </a:lnTo>
                <a:cubicBezTo>
                  <a:pt x="169806" y="285108"/>
                  <a:pt x="169806" y="285121"/>
                  <a:pt x="169818" y="285133"/>
                </a:cubicBezTo>
                <a:cubicBezTo>
                  <a:pt x="176358" y="296612"/>
                  <a:pt x="172444" y="311266"/>
                  <a:pt x="161081" y="317872"/>
                </a:cubicBezTo>
                <a:cubicBezTo>
                  <a:pt x="149618" y="324377"/>
                  <a:pt x="135110" y="320474"/>
                  <a:pt x="128381" y="309072"/>
                </a:cubicBezTo>
                <a:lnTo>
                  <a:pt x="111589" y="279866"/>
                </a:lnTo>
                <a:cubicBezTo>
                  <a:pt x="111514" y="280274"/>
                  <a:pt x="111451" y="280670"/>
                  <a:pt x="111387" y="281078"/>
                </a:cubicBezTo>
                <a:cubicBezTo>
                  <a:pt x="86351" y="429174"/>
                  <a:pt x="184918" y="569732"/>
                  <a:pt x="331525" y="595010"/>
                </a:cubicBezTo>
                <a:lnTo>
                  <a:pt x="336576" y="595010"/>
                </a:lnTo>
                <a:cubicBezTo>
                  <a:pt x="343191" y="595405"/>
                  <a:pt x="349365" y="598543"/>
                  <a:pt x="353620" y="603683"/>
                </a:cubicBezTo>
                <a:cubicBezTo>
                  <a:pt x="357749" y="608504"/>
                  <a:pt x="359794" y="614804"/>
                  <a:pt x="359302" y="621156"/>
                </a:cubicBezTo>
                <a:cubicBezTo>
                  <a:pt x="358254" y="633667"/>
                  <a:pt x="347863" y="643271"/>
                  <a:pt x="335439" y="643219"/>
                </a:cubicBezTo>
                <a:lnTo>
                  <a:pt x="330010" y="643219"/>
                </a:lnTo>
                <a:cubicBezTo>
                  <a:pt x="174590" y="618631"/>
                  <a:pt x="60115" y="483288"/>
                  <a:pt x="60330" y="324377"/>
                </a:cubicBezTo>
                <a:cubicBezTo>
                  <a:pt x="60292" y="305833"/>
                  <a:pt x="61769" y="287314"/>
                  <a:pt x="64748" y="269025"/>
                </a:cubicBezTo>
                <a:lnTo>
                  <a:pt x="36720" y="285223"/>
                </a:lnTo>
                <a:lnTo>
                  <a:pt x="35079" y="286116"/>
                </a:lnTo>
                <a:cubicBezTo>
                  <a:pt x="35003" y="286154"/>
                  <a:pt x="34915" y="286205"/>
                  <a:pt x="34839" y="286243"/>
                </a:cubicBezTo>
                <a:cubicBezTo>
                  <a:pt x="23084" y="292263"/>
                  <a:pt x="8717" y="287532"/>
                  <a:pt x="2758" y="275658"/>
                </a:cubicBezTo>
                <a:cubicBezTo>
                  <a:pt x="-222" y="270059"/>
                  <a:pt x="-816" y="263465"/>
                  <a:pt x="1116" y="257420"/>
                </a:cubicBezTo>
                <a:cubicBezTo>
                  <a:pt x="3010" y="251311"/>
                  <a:pt x="7239" y="246222"/>
                  <a:pt x="12858" y="243263"/>
                </a:cubicBezTo>
                <a:lnTo>
                  <a:pt x="91767" y="197605"/>
                </a:lnTo>
                <a:cubicBezTo>
                  <a:pt x="97335" y="194570"/>
                  <a:pt x="103812" y="193753"/>
                  <a:pt x="109948" y="195309"/>
                </a:cubicBezTo>
                <a:close/>
                <a:moveTo>
                  <a:pt x="354001" y="1260"/>
                </a:moveTo>
                <a:cubicBezTo>
                  <a:pt x="435283" y="-5941"/>
                  <a:pt x="519236" y="17638"/>
                  <a:pt x="587319" y="73640"/>
                </a:cubicBezTo>
                <a:lnTo>
                  <a:pt x="587319" y="40097"/>
                </a:lnTo>
                <a:cubicBezTo>
                  <a:pt x="587319" y="26782"/>
                  <a:pt x="598000" y="15993"/>
                  <a:pt x="611181" y="15993"/>
                </a:cubicBezTo>
                <a:cubicBezTo>
                  <a:pt x="624362" y="15993"/>
                  <a:pt x="635043" y="26782"/>
                  <a:pt x="635043" y="40097"/>
                </a:cubicBezTo>
                <a:lnTo>
                  <a:pt x="635043" y="130648"/>
                </a:lnTo>
                <a:cubicBezTo>
                  <a:pt x="634993" y="137153"/>
                  <a:pt x="632354" y="143351"/>
                  <a:pt x="627720" y="147865"/>
                </a:cubicBezTo>
                <a:lnTo>
                  <a:pt x="623807" y="150672"/>
                </a:lnTo>
                <a:cubicBezTo>
                  <a:pt x="620057" y="153184"/>
                  <a:pt x="615676" y="154561"/>
                  <a:pt x="611181" y="154625"/>
                </a:cubicBezTo>
                <a:lnTo>
                  <a:pt x="520908" y="154625"/>
                </a:lnTo>
                <a:cubicBezTo>
                  <a:pt x="519759" y="154715"/>
                  <a:pt x="518598" y="154715"/>
                  <a:pt x="517449" y="154625"/>
                </a:cubicBezTo>
                <a:cubicBezTo>
                  <a:pt x="504369" y="153656"/>
                  <a:pt x="494547" y="142178"/>
                  <a:pt x="495506" y="128965"/>
                </a:cubicBezTo>
                <a:cubicBezTo>
                  <a:pt x="496466" y="115752"/>
                  <a:pt x="507828" y="105830"/>
                  <a:pt x="520908" y="106799"/>
                </a:cubicBezTo>
                <a:lnTo>
                  <a:pt x="551841" y="106544"/>
                </a:lnTo>
                <a:cubicBezTo>
                  <a:pt x="434853" y="15571"/>
                  <a:pt x="267868" y="32942"/>
                  <a:pt x="171687" y="146081"/>
                </a:cubicBezTo>
                <a:cubicBezTo>
                  <a:pt x="163178" y="156181"/>
                  <a:pt x="148204" y="157482"/>
                  <a:pt x="138103" y="149014"/>
                </a:cubicBezTo>
                <a:cubicBezTo>
                  <a:pt x="133192" y="144958"/>
                  <a:pt x="130137" y="139065"/>
                  <a:pt x="129644" y="132689"/>
                </a:cubicBezTo>
                <a:cubicBezTo>
                  <a:pt x="129102" y="126351"/>
                  <a:pt x="131096" y="120050"/>
                  <a:pt x="135200" y="115216"/>
                </a:cubicBezTo>
                <a:lnTo>
                  <a:pt x="136715" y="113558"/>
                </a:lnTo>
                <a:cubicBezTo>
                  <a:pt x="194111" y="46442"/>
                  <a:pt x="272720" y="8461"/>
                  <a:pt x="354001" y="126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图形 63" descr="线箭头: 直 纯色填充">
            <a:extLst>
              <a:ext uri="{FF2B5EF4-FFF2-40B4-BE49-F238E27FC236}">
                <a16:creationId xmlns:a16="http://schemas.microsoft.com/office/drawing/2014/main" id="{C4007B6A-E1AA-0946-1ACB-37EB13B33BBD}"/>
              </a:ext>
            </a:extLst>
          </p:cNvPr>
          <p:cNvSpPr/>
          <p:nvPr/>
        </p:nvSpPr>
        <p:spPr>
          <a:xfrm rot="16200000">
            <a:off x="4315099" y="3680676"/>
            <a:ext cx="356346" cy="488990"/>
          </a:xfrm>
          <a:custGeom>
            <a:avLst/>
            <a:gdLst>
              <a:gd name="connsiteX0" fmla="*/ 809625 w 838199"/>
              <a:gd name="connsiteY0" fmla="*/ 133350 h 323849"/>
              <a:gd name="connsiteX1" fmla="*/ 97155 w 838199"/>
              <a:gd name="connsiteY1" fmla="*/ 133350 h 323849"/>
              <a:gd name="connsiteX2" fmla="*/ 181928 w 838199"/>
              <a:gd name="connsiteY2" fmla="*/ 48577 h 323849"/>
              <a:gd name="connsiteX3" fmla="*/ 181928 w 838199"/>
              <a:gd name="connsiteY3" fmla="*/ 8572 h 323849"/>
              <a:gd name="connsiteX4" fmla="*/ 141923 w 838199"/>
              <a:gd name="connsiteY4" fmla="*/ 8572 h 323849"/>
              <a:gd name="connsiteX5" fmla="*/ 8573 w 838199"/>
              <a:gd name="connsiteY5" fmla="*/ 141923 h 323849"/>
              <a:gd name="connsiteX6" fmla="*/ 8573 w 838199"/>
              <a:gd name="connsiteY6" fmla="*/ 181927 h 323849"/>
              <a:gd name="connsiteX7" fmla="*/ 141923 w 838199"/>
              <a:gd name="connsiteY7" fmla="*/ 315277 h 323849"/>
              <a:gd name="connsiteX8" fmla="*/ 161925 w 838199"/>
              <a:gd name="connsiteY8" fmla="*/ 323850 h 323849"/>
              <a:gd name="connsiteX9" fmla="*/ 181928 w 838199"/>
              <a:gd name="connsiteY9" fmla="*/ 315277 h 323849"/>
              <a:gd name="connsiteX10" fmla="*/ 181928 w 838199"/>
              <a:gd name="connsiteY10" fmla="*/ 275273 h 323849"/>
              <a:gd name="connsiteX11" fmla="*/ 97155 w 838199"/>
              <a:gd name="connsiteY11" fmla="*/ 190500 h 323849"/>
              <a:gd name="connsiteX12" fmla="*/ 809625 w 838199"/>
              <a:gd name="connsiteY12" fmla="*/ 190500 h 323849"/>
              <a:gd name="connsiteX13" fmla="*/ 838200 w 838199"/>
              <a:gd name="connsiteY13" fmla="*/ 161925 h 323849"/>
              <a:gd name="connsiteX14" fmla="*/ 809625 w 838199"/>
              <a:gd name="connsiteY14" fmla="*/ 133350 h 32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38199" h="323849">
                <a:moveTo>
                  <a:pt x="809625" y="133350"/>
                </a:moveTo>
                <a:lnTo>
                  <a:pt x="97155" y="133350"/>
                </a:lnTo>
                <a:lnTo>
                  <a:pt x="181928" y="48577"/>
                </a:lnTo>
                <a:cubicBezTo>
                  <a:pt x="193357" y="37148"/>
                  <a:pt x="193357" y="19050"/>
                  <a:pt x="181928" y="8572"/>
                </a:cubicBezTo>
                <a:cubicBezTo>
                  <a:pt x="170498" y="-2857"/>
                  <a:pt x="152400" y="-2857"/>
                  <a:pt x="141923" y="8572"/>
                </a:cubicBezTo>
                <a:lnTo>
                  <a:pt x="8573" y="141923"/>
                </a:lnTo>
                <a:cubicBezTo>
                  <a:pt x="-2858" y="153352"/>
                  <a:pt x="-2858" y="171450"/>
                  <a:pt x="8573" y="181927"/>
                </a:cubicBezTo>
                <a:lnTo>
                  <a:pt x="141923" y="315277"/>
                </a:lnTo>
                <a:cubicBezTo>
                  <a:pt x="147638" y="320992"/>
                  <a:pt x="155257" y="323850"/>
                  <a:pt x="161925" y="323850"/>
                </a:cubicBezTo>
                <a:cubicBezTo>
                  <a:pt x="168593" y="323850"/>
                  <a:pt x="176213" y="320992"/>
                  <a:pt x="181928" y="315277"/>
                </a:cubicBezTo>
                <a:cubicBezTo>
                  <a:pt x="193357" y="303848"/>
                  <a:pt x="193357" y="285750"/>
                  <a:pt x="181928" y="275273"/>
                </a:cubicBezTo>
                <a:lnTo>
                  <a:pt x="97155" y="190500"/>
                </a:lnTo>
                <a:lnTo>
                  <a:pt x="809625" y="190500"/>
                </a:lnTo>
                <a:cubicBezTo>
                  <a:pt x="825818" y="190500"/>
                  <a:pt x="838200" y="178118"/>
                  <a:pt x="838200" y="161925"/>
                </a:cubicBezTo>
                <a:cubicBezTo>
                  <a:pt x="838200" y="145732"/>
                  <a:pt x="825818" y="133350"/>
                  <a:pt x="809625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B8BCC4">
                  <a:shade val="30000"/>
                  <a:satMod val="115000"/>
                </a:srgbClr>
              </a:gs>
              <a:gs pos="50000">
                <a:srgbClr val="B8BCC4">
                  <a:shade val="67500"/>
                  <a:satMod val="115000"/>
                </a:srgbClr>
              </a:gs>
              <a:gs pos="100000">
                <a:srgbClr val="B8BCC4">
                  <a:shade val="100000"/>
                  <a:satMod val="115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图形 63" descr="线箭头: 直 纯色填充">
            <a:extLst>
              <a:ext uri="{FF2B5EF4-FFF2-40B4-BE49-F238E27FC236}">
                <a16:creationId xmlns:a16="http://schemas.microsoft.com/office/drawing/2014/main" id="{1EEFEAEB-E53F-8618-EC76-DF16928B4E95}"/>
              </a:ext>
            </a:extLst>
          </p:cNvPr>
          <p:cNvSpPr/>
          <p:nvPr/>
        </p:nvSpPr>
        <p:spPr>
          <a:xfrm rot="16200000">
            <a:off x="9841432" y="3671870"/>
            <a:ext cx="373959" cy="488990"/>
          </a:xfrm>
          <a:custGeom>
            <a:avLst/>
            <a:gdLst>
              <a:gd name="connsiteX0" fmla="*/ 809625 w 838199"/>
              <a:gd name="connsiteY0" fmla="*/ 133350 h 323849"/>
              <a:gd name="connsiteX1" fmla="*/ 97155 w 838199"/>
              <a:gd name="connsiteY1" fmla="*/ 133350 h 323849"/>
              <a:gd name="connsiteX2" fmla="*/ 181928 w 838199"/>
              <a:gd name="connsiteY2" fmla="*/ 48577 h 323849"/>
              <a:gd name="connsiteX3" fmla="*/ 181928 w 838199"/>
              <a:gd name="connsiteY3" fmla="*/ 8572 h 323849"/>
              <a:gd name="connsiteX4" fmla="*/ 141923 w 838199"/>
              <a:gd name="connsiteY4" fmla="*/ 8572 h 323849"/>
              <a:gd name="connsiteX5" fmla="*/ 8573 w 838199"/>
              <a:gd name="connsiteY5" fmla="*/ 141923 h 323849"/>
              <a:gd name="connsiteX6" fmla="*/ 8573 w 838199"/>
              <a:gd name="connsiteY6" fmla="*/ 181927 h 323849"/>
              <a:gd name="connsiteX7" fmla="*/ 141923 w 838199"/>
              <a:gd name="connsiteY7" fmla="*/ 315277 h 323849"/>
              <a:gd name="connsiteX8" fmla="*/ 161925 w 838199"/>
              <a:gd name="connsiteY8" fmla="*/ 323850 h 323849"/>
              <a:gd name="connsiteX9" fmla="*/ 181928 w 838199"/>
              <a:gd name="connsiteY9" fmla="*/ 315277 h 323849"/>
              <a:gd name="connsiteX10" fmla="*/ 181928 w 838199"/>
              <a:gd name="connsiteY10" fmla="*/ 275273 h 323849"/>
              <a:gd name="connsiteX11" fmla="*/ 97155 w 838199"/>
              <a:gd name="connsiteY11" fmla="*/ 190500 h 323849"/>
              <a:gd name="connsiteX12" fmla="*/ 809625 w 838199"/>
              <a:gd name="connsiteY12" fmla="*/ 190500 h 323849"/>
              <a:gd name="connsiteX13" fmla="*/ 838200 w 838199"/>
              <a:gd name="connsiteY13" fmla="*/ 161925 h 323849"/>
              <a:gd name="connsiteX14" fmla="*/ 809625 w 838199"/>
              <a:gd name="connsiteY14" fmla="*/ 133350 h 32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38199" h="323849">
                <a:moveTo>
                  <a:pt x="809625" y="133350"/>
                </a:moveTo>
                <a:lnTo>
                  <a:pt x="97155" y="133350"/>
                </a:lnTo>
                <a:lnTo>
                  <a:pt x="181928" y="48577"/>
                </a:lnTo>
                <a:cubicBezTo>
                  <a:pt x="193357" y="37148"/>
                  <a:pt x="193357" y="19050"/>
                  <a:pt x="181928" y="8572"/>
                </a:cubicBezTo>
                <a:cubicBezTo>
                  <a:pt x="170498" y="-2857"/>
                  <a:pt x="152400" y="-2857"/>
                  <a:pt x="141923" y="8572"/>
                </a:cubicBezTo>
                <a:lnTo>
                  <a:pt x="8573" y="141923"/>
                </a:lnTo>
                <a:cubicBezTo>
                  <a:pt x="-2858" y="153352"/>
                  <a:pt x="-2858" y="171450"/>
                  <a:pt x="8573" y="181927"/>
                </a:cubicBezTo>
                <a:lnTo>
                  <a:pt x="141923" y="315277"/>
                </a:lnTo>
                <a:cubicBezTo>
                  <a:pt x="147638" y="320992"/>
                  <a:pt x="155257" y="323850"/>
                  <a:pt x="161925" y="323850"/>
                </a:cubicBezTo>
                <a:cubicBezTo>
                  <a:pt x="168593" y="323850"/>
                  <a:pt x="176213" y="320992"/>
                  <a:pt x="181928" y="315277"/>
                </a:cubicBezTo>
                <a:cubicBezTo>
                  <a:pt x="193357" y="303848"/>
                  <a:pt x="193357" y="285750"/>
                  <a:pt x="181928" y="275273"/>
                </a:cubicBezTo>
                <a:lnTo>
                  <a:pt x="97155" y="190500"/>
                </a:lnTo>
                <a:lnTo>
                  <a:pt x="809625" y="190500"/>
                </a:lnTo>
                <a:cubicBezTo>
                  <a:pt x="825818" y="190500"/>
                  <a:pt x="838200" y="178118"/>
                  <a:pt x="838200" y="161925"/>
                </a:cubicBezTo>
                <a:cubicBezTo>
                  <a:pt x="838200" y="145732"/>
                  <a:pt x="825818" y="133350"/>
                  <a:pt x="809625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B8BCC4">
                  <a:shade val="30000"/>
                  <a:satMod val="115000"/>
                </a:srgbClr>
              </a:gs>
              <a:gs pos="50000">
                <a:srgbClr val="B8BCC4">
                  <a:shade val="67500"/>
                  <a:satMod val="115000"/>
                </a:srgbClr>
              </a:gs>
              <a:gs pos="100000">
                <a:srgbClr val="B8BCC4">
                  <a:shade val="100000"/>
                  <a:satMod val="115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图形 63" descr="线箭头: 直 纯色填充">
            <a:extLst>
              <a:ext uri="{FF2B5EF4-FFF2-40B4-BE49-F238E27FC236}">
                <a16:creationId xmlns:a16="http://schemas.microsoft.com/office/drawing/2014/main" id="{BCF578DF-67BC-ACB9-C47B-A29EC21D3D92}"/>
              </a:ext>
            </a:extLst>
          </p:cNvPr>
          <p:cNvSpPr/>
          <p:nvPr/>
        </p:nvSpPr>
        <p:spPr>
          <a:xfrm rot="13682633">
            <a:off x="5650420" y="3666216"/>
            <a:ext cx="618506" cy="488990"/>
          </a:xfrm>
          <a:custGeom>
            <a:avLst/>
            <a:gdLst>
              <a:gd name="connsiteX0" fmla="*/ 809625 w 838199"/>
              <a:gd name="connsiteY0" fmla="*/ 133350 h 323849"/>
              <a:gd name="connsiteX1" fmla="*/ 97155 w 838199"/>
              <a:gd name="connsiteY1" fmla="*/ 133350 h 323849"/>
              <a:gd name="connsiteX2" fmla="*/ 181928 w 838199"/>
              <a:gd name="connsiteY2" fmla="*/ 48577 h 323849"/>
              <a:gd name="connsiteX3" fmla="*/ 181928 w 838199"/>
              <a:gd name="connsiteY3" fmla="*/ 8572 h 323849"/>
              <a:gd name="connsiteX4" fmla="*/ 141923 w 838199"/>
              <a:gd name="connsiteY4" fmla="*/ 8572 h 323849"/>
              <a:gd name="connsiteX5" fmla="*/ 8573 w 838199"/>
              <a:gd name="connsiteY5" fmla="*/ 141923 h 323849"/>
              <a:gd name="connsiteX6" fmla="*/ 8573 w 838199"/>
              <a:gd name="connsiteY6" fmla="*/ 181927 h 323849"/>
              <a:gd name="connsiteX7" fmla="*/ 141923 w 838199"/>
              <a:gd name="connsiteY7" fmla="*/ 315277 h 323849"/>
              <a:gd name="connsiteX8" fmla="*/ 161925 w 838199"/>
              <a:gd name="connsiteY8" fmla="*/ 323850 h 323849"/>
              <a:gd name="connsiteX9" fmla="*/ 181928 w 838199"/>
              <a:gd name="connsiteY9" fmla="*/ 315277 h 323849"/>
              <a:gd name="connsiteX10" fmla="*/ 181928 w 838199"/>
              <a:gd name="connsiteY10" fmla="*/ 275273 h 323849"/>
              <a:gd name="connsiteX11" fmla="*/ 97155 w 838199"/>
              <a:gd name="connsiteY11" fmla="*/ 190500 h 323849"/>
              <a:gd name="connsiteX12" fmla="*/ 809625 w 838199"/>
              <a:gd name="connsiteY12" fmla="*/ 190500 h 323849"/>
              <a:gd name="connsiteX13" fmla="*/ 838200 w 838199"/>
              <a:gd name="connsiteY13" fmla="*/ 161925 h 323849"/>
              <a:gd name="connsiteX14" fmla="*/ 809625 w 838199"/>
              <a:gd name="connsiteY14" fmla="*/ 133350 h 32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38199" h="323849">
                <a:moveTo>
                  <a:pt x="809625" y="133350"/>
                </a:moveTo>
                <a:lnTo>
                  <a:pt x="97155" y="133350"/>
                </a:lnTo>
                <a:lnTo>
                  <a:pt x="181928" y="48577"/>
                </a:lnTo>
                <a:cubicBezTo>
                  <a:pt x="193357" y="37148"/>
                  <a:pt x="193357" y="19050"/>
                  <a:pt x="181928" y="8572"/>
                </a:cubicBezTo>
                <a:cubicBezTo>
                  <a:pt x="170498" y="-2857"/>
                  <a:pt x="152400" y="-2857"/>
                  <a:pt x="141923" y="8572"/>
                </a:cubicBezTo>
                <a:lnTo>
                  <a:pt x="8573" y="141923"/>
                </a:lnTo>
                <a:cubicBezTo>
                  <a:pt x="-2858" y="153352"/>
                  <a:pt x="-2858" y="171450"/>
                  <a:pt x="8573" y="181927"/>
                </a:cubicBezTo>
                <a:lnTo>
                  <a:pt x="141923" y="315277"/>
                </a:lnTo>
                <a:cubicBezTo>
                  <a:pt x="147638" y="320992"/>
                  <a:pt x="155257" y="323850"/>
                  <a:pt x="161925" y="323850"/>
                </a:cubicBezTo>
                <a:cubicBezTo>
                  <a:pt x="168593" y="323850"/>
                  <a:pt x="176213" y="320992"/>
                  <a:pt x="181928" y="315277"/>
                </a:cubicBezTo>
                <a:cubicBezTo>
                  <a:pt x="193357" y="303848"/>
                  <a:pt x="193357" y="285750"/>
                  <a:pt x="181928" y="275273"/>
                </a:cubicBezTo>
                <a:lnTo>
                  <a:pt x="97155" y="190500"/>
                </a:lnTo>
                <a:lnTo>
                  <a:pt x="809625" y="190500"/>
                </a:lnTo>
                <a:cubicBezTo>
                  <a:pt x="825818" y="190500"/>
                  <a:pt x="838200" y="178118"/>
                  <a:pt x="838200" y="161925"/>
                </a:cubicBezTo>
                <a:cubicBezTo>
                  <a:pt x="838200" y="145732"/>
                  <a:pt x="825818" y="133350"/>
                  <a:pt x="809625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B8BCC4">
                  <a:shade val="30000"/>
                  <a:satMod val="115000"/>
                </a:srgbClr>
              </a:gs>
              <a:gs pos="50000">
                <a:srgbClr val="B8BCC4">
                  <a:shade val="67500"/>
                  <a:satMod val="115000"/>
                </a:srgbClr>
              </a:gs>
              <a:gs pos="100000">
                <a:srgbClr val="B8BCC4">
                  <a:shade val="100000"/>
                  <a:satMod val="115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图形 63" descr="线箭头: 直 纯色填充">
            <a:extLst>
              <a:ext uri="{FF2B5EF4-FFF2-40B4-BE49-F238E27FC236}">
                <a16:creationId xmlns:a16="http://schemas.microsoft.com/office/drawing/2014/main" id="{DCDF4338-71DD-50C1-1EEB-E6C8CB2DD24E}"/>
              </a:ext>
            </a:extLst>
          </p:cNvPr>
          <p:cNvSpPr/>
          <p:nvPr/>
        </p:nvSpPr>
        <p:spPr>
          <a:xfrm rot="18651749">
            <a:off x="8225579" y="3678506"/>
            <a:ext cx="618506" cy="488990"/>
          </a:xfrm>
          <a:custGeom>
            <a:avLst/>
            <a:gdLst>
              <a:gd name="connsiteX0" fmla="*/ 809625 w 838199"/>
              <a:gd name="connsiteY0" fmla="*/ 133350 h 323849"/>
              <a:gd name="connsiteX1" fmla="*/ 97155 w 838199"/>
              <a:gd name="connsiteY1" fmla="*/ 133350 h 323849"/>
              <a:gd name="connsiteX2" fmla="*/ 181928 w 838199"/>
              <a:gd name="connsiteY2" fmla="*/ 48577 h 323849"/>
              <a:gd name="connsiteX3" fmla="*/ 181928 w 838199"/>
              <a:gd name="connsiteY3" fmla="*/ 8572 h 323849"/>
              <a:gd name="connsiteX4" fmla="*/ 141923 w 838199"/>
              <a:gd name="connsiteY4" fmla="*/ 8572 h 323849"/>
              <a:gd name="connsiteX5" fmla="*/ 8573 w 838199"/>
              <a:gd name="connsiteY5" fmla="*/ 141923 h 323849"/>
              <a:gd name="connsiteX6" fmla="*/ 8573 w 838199"/>
              <a:gd name="connsiteY6" fmla="*/ 181927 h 323849"/>
              <a:gd name="connsiteX7" fmla="*/ 141923 w 838199"/>
              <a:gd name="connsiteY7" fmla="*/ 315277 h 323849"/>
              <a:gd name="connsiteX8" fmla="*/ 161925 w 838199"/>
              <a:gd name="connsiteY8" fmla="*/ 323850 h 323849"/>
              <a:gd name="connsiteX9" fmla="*/ 181928 w 838199"/>
              <a:gd name="connsiteY9" fmla="*/ 315277 h 323849"/>
              <a:gd name="connsiteX10" fmla="*/ 181928 w 838199"/>
              <a:gd name="connsiteY10" fmla="*/ 275273 h 323849"/>
              <a:gd name="connsiteX11" fmla="*/ 97155 w 838199"/>
              <a:gd name="connsiteY11" fmla="*/ 190500 h 323849"/>
              <a:gd name="connsiteX12" fmla="*/ 809625 w 838199"/>
              <a:gd name="connsiteY12" fmla="*/ 190500 h 323849"/>
              <a:gd name="connsiteX13" fmla="*/ 838200 w 838199"/>
              <a:gd name="connsiteY13" fmla="*/ 161925 h 323849"/>
              <a:gd name="connsiteX14" fmla="*/ 809625 w 838199"/>
              <a:gd name="connsiteY14" fmla="*/ 133350 h 32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38199" h="323849">
                <a:moveTo>
                  <a:pt x="809625" y="133350"/>
                </a:moveTo>
                <a:lnTo>
                  <a:pt x="97155" y="133350"/>
                </a:lnTo>
                <a:lnTo>
                  <a:pt x="181928" y="48577"/>
                </a:lnTo>
                <a:cubicBezTo>
                  <a:pt x="193357" y="37148"/>
                  <a:pt x="193357" y="19050"/>
                  <a:pt x="181928" y="8572"/>
                </a:cubicBezTo>
                <a:cubicBezTo>
                  <a:pt x="170498" y="-2857"/>
                  <a:pt x="152400" y="-2857"/>
                  <a:pt x="141923" y="8572"/>
                </a:cubicBezTo>
                <a:lnTo>
                  <a:pt x="8573" y="141923"/>
                </a:lnTo>
                <a:cubicBezTo>
                  <a:pt x="-2858" y="153352"/>
                  <a:pt x="-2858" y="171450"/>
                  <a:pt x="8573" y="181927"/>
                </a:cubicBezTo>
                <a:lnTo>
                  <a:pt x="141923" y="315277"/>
                </a:lnTo>
                <a:cubicBezTo>
                  <a:pt x="147638" y="320992"/>
                  <a:pt x="155257" y="323850"/>
                  <a:pt x="161925" y="323850"/>
                </a:cubicBezTo>
                <a:cubicBezTo>
                  <a:pt x="168593" y="323850"/>
                  <a:pt x="176213" y="320992"/>
                  <a:pt x="181928" y="315277"/>
                </a:cubicBezTo>
                <a:cubicBezTo>
                  <a:pt x="193357" y="303848"/>
                  <a:pt x="193357" y="285750"/>
                  <a:pt x="181928" y="275273"/>
                </a:cubicBezTo>
                <a:lnTo>
                  <a:pt x="97155" y="190500"/>
                </a:lnTo>
                <a:lnTo>
                  <a:pt x="809625" y="190500"/>
                </a:lnTo>
                <a:cubicBezTo>
                  <a:pt x="825818" y="190500"/>
                  <a:pt x="838200" y="178118"/>
                  <a:pt x="838200" y="161925"/>
                </a:cubicBezTo>
                <a:cubicBezTo>
                  <a:pt x="838200" y="145732"/>
                  <a:pt x="825818" y="133350"/>
                  <a:pt x="809625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B8BCC4">
                  <a:shade val="30000"/>
                  <a:satMod val="115000"/>
                </a:srgbClr>
              </a:gs>
              <a:gs pos="50000">
                <a:srgbClr val="B8BCC4">
                  <a:shade val="67500"/>
                  <a:satMod val="115000"/>
                </a:srgbClr>
              </a:gs>
              <a:gs pos="100000">
                <a:srgbClr val="B8BCC4">
                  <a:shade val="100000"/>
                  <a:satMod val="115000"/>
                </a:srgbClr>
              </a:gs>
            </a:gsLst>
            <a:lin ang="16200000" scaled="1"/>
            <a:tileRect/>
          </a:gra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标注: 下箭头 1">
            <a:extLst>
              <a:ext uri="{FF2B5EF4-FFF2-40B4-BE49-F238E27FC236}">
                <a16:creationId xmlns:a16="http://schemas.microsoft.com/office/drawing/2014/main" id="{7941E400-4D3D-7861-78A5-5272830A6E07}"/>
              </a:ext>
            </a:extLst>
          </p:cNvPr>
          <p:cNvSpPr>
            <a:spLocks noChangeAspect="1"/>
          </p:cNvSpPr>
          <p:nvPr/>
        </p:nvSpPr>
        <p:spPr>
          <a:xfrm>
            <a:off x="3490510" y="5042022"/>
            <a:ext cx="7519688" cy="736170"/>
          </a:xfrm>
          <a:prstGeom prst="downArrowCallou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2400" dirty="0">
                <a:latin typeface="Rockwell Extra Bold" panose="02060903040505020403" pitchFamily="18" charset="0"/>
                <a:ea typeface="华文行楷" panose="02010800040101010101" pitchFamily="2" charset="-122"/>
              </a:rPr>
              <a:t>Slove And Combine</a:t>
            </a:r>
            <a:endParaRPr lang="zh-CN" altLang="en-US" sz="2400" dirty="0">
              <a:latin typeface="Rockwell Extra Bold" panose="02060903040505020403" pitchFamily="18" charset="0"/>
              <a:ea typeface="华文行楷" panose="02010800040101010101" pitchFamily="2" charset="-122"/>
            </a:endParaRPr>
          </a:p>
        </p:txBody>
      </p:sp>
      <p:sp>
        <p:nvSpPr>
          <p:cNvPr id="27" name="矩形: 圆角 50">
            <a:extLst>
              <a:ext uri="{FF2B5EF4-FFF2-40B4-BE49-F238E27FC236}">
                <a16:creationId xmlns:a16="http://schemas.microsoft.com/office/drawing/2014/main" id="{EA96C493-1183-4265-A05A-A421711F9C50}"/>
              </a:ext>
            </a:extLst>
          </p:cNvPr>
          <p:cNvSpPr/>
          <p:nvPr/>
        </p:nvSpPr>
        <p:spPr>
          <a:xfrm>
            <a:off x="3494179" y="1454134"/>
            <a:ext cx="1995889" cy="938680"/>
          </a:xfrm>
          <a:prstGeom prst="roundRect">
            <a:avLst/>
          </a:prstGeom>
          <a:solidFill>
            <a:schemeClr val="accent6">
              <a:lumMod val="75000"/>
              <a:alpha val="29804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dirty="0"/>
              <a:t>人形具身智能应用场景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326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51D8-A6FB-E624-1D0A-ADA936B0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995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BF77-1264-EDD2-75EC-1CB48105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E89E5D-BFCD-EC4F-4C5E-77F8CD8FA8E7}"/>
              </a:ext>
            </a:extLst>
          </p:cNvPr>
          <p:cNvSpPr txBox="1"/>
          <p:nvPr/>
        </p:nvSpPr>
        <p:spPr>
          <a:xfrm>
            <a:off x="3048918" y="324708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SG" sz="1800" kern="100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研究方法和研究思路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20735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EC903-545B-8401-51CA-D29A140E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19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A3B4-A318-5B70-9CC0-481008C1E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471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114</Words>
  <Application>Microsoft Office PowerPoint</Application>
  <PresentationFormat>宽屏</PresentationFormat>
  <Paragraphs>19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Rockwell Extra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佳波 许</dc:creator>
  <cp:lastModifiedBy>ASUS</cp:lastModifiedBy>
  <cp:revision>25</cp:revision>
  <dcterms:created xsi:type="dcterms:W3CDTF">2025-12-10T14:54:31Z</dcterms:created>
  <dcterms:modified xsi:type="dcterms:W3CDTF">2025-12-12T07:03:50Z</dcterms:modified>
</cp:coreProperties>
</file>